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A441"/>
          </a:solidFill>
          <a:ln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59436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9D9D2"/>
                </a:solidFill>
                <a:latin typeface="Aptos"/>
              </a:rPr>
              <a:t>C++ OBJECT-ORIENTED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5852160" cy="1371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ptos Display"/>
              </a:rPr>
              <a:t>HOTEL</a:t>
            </a:r>
          </a:p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ptos Display"/>
              </a:rPr>
              <a:t>HAVEN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063240"/>
            <a:ext cx="5303520" cy="777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E7F0EF"/>
                </a:solidFill>
                <a:latin typeface="Aptos"/>
              </a:rPr>
              <a:t>Hotel Room Reservation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572000"/>
            <a:ext cx="5303520" cy="1554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200"/>
              <a:t>Presented by: Swayam Krupesh Nakhwa</a:t>
            </a:r>
          </a:p>
          <a:p>
            <a:pPr>
              <a:spcAft>
                <a:spcPts val="200"/>
              </a:spcAft>
            </a:pPr>
            <a:r>
              <a:rPr sz="1200"/>
              <a:t>Roll No.: BT24ECE080</a:t>
            </a:r>
          </a:p>
          <a:p>
            <a:pPr>
              <a:spcAft>
                <a:spcPts val="200"/>
              </a:spcAft>
            </a:pPr>
            <a:r>
              <a:rPr sz="1200"/>
              <a:t>Course: Introduction to Object Oriented Programming</a:t>
            </a:r>
          </a:p>
          <a:p>
            <a:pPr>
              <a:spcAft>
                <a:spcPts val="200"/>
              </a:spcAft>
            </a:pPr>
            <a:r>
              <a:rPr sz="1200"/>
              <a:t>Semester: 5th Semester</a:t>
            </a:r>
          </a:p>
          <a:p>
            <a:pPr>
              <a:spcAft>
                <a:spcPts val="200"/>
              </a:spcAft>
            </a:pPr>
            <a:r>
              <a:rPr sz="1200"/>
              <a:t>Guided by: Aparna Wamanrao Bondade Ma'am</a:t>
            </a:r>
          </a:p>
          <a:p>
            <a:pPr>
              <a:spcAft>
                <a:spcPts val="200"/>
              </a:spcAft>
            </a:pPr>
            <a:r>
              <a:rPr sz="1200"/>
              <a:t>Indian Institute of Information Technology Nagpur</a:t>
            </a:r>
          </a:p>
        </p:txBody>
      </p:sp>
      <p:pic>
        <p:nvPicPr>
          <p:cNvPr id="7" name="Picture 6" descr="deluxe-r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909267"/>
            <a:ext cx="4754880" cy="2948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0" y="6217920"/>
            <a:ext cx="45720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D9E8E5"/>
                </a:solidFill>
                <a:latin typeface="Aptos"/>
              </a:rPr>
              <a:t>Project Presentation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8A87"/>
          </a:solidFill>
          <a:ln>
            <a:solidFill>
              <a:srgbClr val="2B8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1106424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7324D"/>
                </a:solidFill>
                <a:latin typeface="Aptos Display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91440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27581"/>
                </a:solidFill>
                <a:latin typeface="Aptos"/>
              </a:rPr>
              <a:t>HOTEL HAVEN  |  C++ OOP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27581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760720" cy="448056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buChar char="•"/>
              <a:spcAft>
                <a:spcPts val="1200"/>
              </a:spcAft>
              <a:defRPr sz="2100">
                <a:solidFill>
                  <a:srgbClr val="243746"/>
                </a:solidFill>
                <a:latin typeface="Aptos"/>
              </a:defRPr>
            </a:pPr>
            <a:r>
              <a:t>A locally hosted hotel booking demonstration.</a:t>
            </a:r>
          </a:p>
          <a:p>
            <a:pPr>
              <a:buChar char="•"/>
              <a:spcAft>
                <a:spcPts val="1200"/>
              </a:spcAft>
              <a:defRPr sz="2100">
                <a:solidFill>
                  <a:srgbClr val="243746"/>
                </a:solidFill>
                <a:latin typeface="Aptos"/>
              </a:defRPr>
            </a:pPr>
            <a:r>
              <a:t>C++ backend with an object-oriented reservation domain.</a:t>
            </a:r>
          </a:p>
          <a:p>
            <a:pPr>
              <a:buChar char="•"/>
              <a:spcAft>
                <a:spcPts val="1200"/>
              </a:spcAft>
              <a:defRPr sz="2100">
                <a:solidFill>
                  <a:srgbClr val="243746"/>
                </a:solidFill>
                <a:latin typeface="Aptos"/>
              </a:defRPr>
            </a:pPr>
            <a:r>
              <a:t>Responsive browser UI built with HTML, CSS, and JavaScript.</a:t>
            </a:r>
          </a:p>
          <a:p>
            <a:pPr>
              <a:buChar char="•"/>
              <a:spcAft>
                <a:spcPts val="1200"/>
              </a:spcAft>
              <a:defRPr sz="2100">
                <a:solidFill>
                  <a:srgbClr val="243746"/>
                </a:solidFill>
                <a:latin typeface="Aptos"/>
              </a:defRPr>
            </a:pPr>
            <a:r>
              <a:t>Six sample rooms across Standard, Deluxe, and Suite categories.</a:t>
            </a:r>
          </a:p>
          <a:p>
            <a:pPr>
              <a:buChar char="•"/>
              <a:spcAft>
                <a:spcPts val="1200"/>
              </a:spcAft>
              <a:defRPr sz="2100">
                <a:solidFill>
                  <a:srgbClr val="243746"/>
                </a:solidFill>
                <a:latin typeface="Aptos"/>
              </a:defRPr>
            </a:pPr>
            <a:r>
              <a:t>CSV persistence keeps reservations between local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417320"/>
            <a:ext cx="4389120" cy="3566160"/>
          </a:xfrm>
          <a:prstGeom prst="round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65760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A9D9D2"/>
                </a:solidFill>
                <a:latin typeface="Aptos"/>
              </a:rPr>
              <a:t>CORE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468880"/>
            <a:ext cx="3017520" cy="402336"/>
          </a:xfrm>
          <a:prstGeom prst="roundRect">
            <a:avLst/>
          </a:prstGeom>
          <a:solidFill>
            <a:srgbClr val="F7F8F5"/>
          </a:solidFill>
          <a:ln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2523744"/>
            <a:ext cx="28346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7324D"/>
                </a:solidFill>
                <a:latin typeface="Aptos"/>
              </a:rPr>
              <a:t>Browse rooms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035808"/>
            <a:ext cx="3017520" cy="402336"/>
          </a:xfrm>
          <a:prstGeom prst="roundRect">
            <a:avLst/>
          </a:prstGeom>
          <a:solidFill>
            <a:srgbClr val="F7F8F5"/>
          </a:solidFill>
          <a:ln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3090672"/>
            <a:ext cx="28346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7324D"/>
                </a:solidFill>
                <a:latin typeface="Aptos"/>
              </a:rPr>
              <a:t>Check availability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602736"/>
            <a:ext cx="3017520" cy="402336"/>
          </a:xfrm>
          <a:prstGeom prst="roundRect">
            <a:avLst/>
          </a:prstGeom>
          <a:solidFill>
            <a:srgbClr val="F7F8F5"/>
          </a:solidFill>
          <a:ln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3657600"/>
            <a:ext cx="28346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7324D"/>
                </a:solidFill>
                <a:latin typeface="Aptos"/>
              </a:rPr>
              <a:t>Reserve a room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169664"/>
            <a:ext cx="3017520" cy="402336"/>
          </a:xfrm>
          <a:prstGeom prst="roundRect">
            <a:avLst/>
          </a:prstGeom>
          <a:solidFill>
            <a:srgbClr val="F7F8F5"/>
          </a:solidFill>
          <a:ln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4224527"/>
            <a:ext cx="28346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7324D"/>
                </a:solidFill>
                <a:latin typeface="Aptos"/>
              </a:rPr>
              <a:t>Manage booking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8A87"/>
          </a:solidFill>
          <a:ln>
            <a:solidFill>
              <a:srgbClr val="2B8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1106424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7324D"/>
                </a:solidFill>
                <a:latin typeface="Aptos Display"/>
              </a:rPr>
              <a:t>Problem, 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91440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27581"/>
                </a:solidFill>
                <a:latin typeface="Aptos"/>
              </a:rPr>
              <a:t>HOTEL HAVEN  |  C++ OOP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27581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9E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66344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8A87"/>
                </a:solidFill>
                <a:latin typeface="Apto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663440" cy="34747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buChar char="•"/>
              <a:spcAft>
                <a:spcPts val="1200"/>
              </a:spcAft>
              <a:defRPr sz="1800">
                <a:solidFill>
                  <a:srgbClr val="243746"/>
                </a:solidFill>
                <a:latin typeface="Aptos"/>
              </a:defRPr>
            </a:pPr>
            <a:r>
              <a:t>Room booking combines dates, capacity, price, and room availability.</a:t>
            </a:r>
          </a:p>
          <a:p>
            <a:pPr>
              <a:buChar char="•"/>
              <a:spcAft>
                <a:spcPts val="1200"/>
              </a:spcAft>
              <a:defRPr sz="1800">
                <a:solidFill>
                  <a:srgbClr val="243746"/>
                </a:solidFill>
                <a:latin typeface="Aptos"/>
              </a:defRPr>
            </a:pPr>
            <a:r>
              <a:t>Invalid or overlapping stays must be rejected.</a:t>
            </a:r>
          </a:p>
          <a:p>
            <a:pPr>
              <a:buChar char="•"/>
              <a:spcAft>
                <a:spcPts val="1200"/>
              </a:spcAft>
              <a:defRPr sz="1800">
                <a:solidFill>
                  <a:srgbClr val="243746"/>
                </a:solidFill>
                <a:latin typeface="Aptos"/>
              </a:defRPr>
            </a:pPr>
            <a:r>
              <a:t>Business rules should be testable apart from the web page.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9E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66344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8A87"/>
                </a:solidFill>
                <a:latin typeface="Aptos"/>
              </a:rPr>
              <a:t>OBJECTIVES &amp; BOUNDARIES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4572000" cy="356616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buChar char="•"/>
              <a:spcAft>
                <a:spcPts val="1200"/>
              </a:spcAft>
              <a:defRPr sz="1800">
                <a:solidFill>
                  <a:srgbClr val="243746"/>
                </a:solidFill>
                <a:latin typeface="Aptos"/>
              </a:defRPr>
            </a:pPr>
            <a:r>
              <a:t>Demonstrate OOP using a complete application workflow.</a:t>
            </a:r>
          </a:p>
          <a:p>
            <a:pPr>
              <a:buChar char="•"/>
              <a:spcAft>
                <a:spcPts val="1200"/>
              </a:spcAft>
              <a:defRPr sz="1800">
                <a:solidFill>
                  <a:srgbClr val="243746"/>
                </a:solidFill>
                <a:latin typeface="Aptos"/>
              </a:defRPr>
            </a:pPr>
            <a:r>
              <a:t>Validate bookings and persist records to CSV.</a:t>
            </a:r>
          </a:p>
          <a:p>
            <a:pPr>
              <a:buChar char="•"/>
              <a:spcAft>
                <a:spcPts val="1200"/>
              </a:spcAft>
              <a:defRPr sz="1800">
                <a:solidFill>
                  <a:srgbClr val="243746"/>
                </a:solidFill>
                <a:latin typeface="Aptos"/>
              </a:defRPr>
            </a:pPr>
            <a:r>
              <a:t>Educational local app; no payments, secure accounts, or production hosting.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8A87"/>
          </a:solidFill>
          <a:ln>
            <a:solidFill>
              <a:srgbClr val="2B8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1106424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7324D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91440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27581"/>
                </a:solidFill>
                <a:latin typeface="Aptos"/>
              </a:rPr>
              <a:t>HOTEL HAVEN  |  C++ OOP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27581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1874519" cy="1005840"/>
          </a:xfrm>
          <a:prstGeom prst="roundRect">
            <a:avLst/>
          </a:prstGeom>
          <a:solidFill>
            <a:srgbClr val="E6F1EF"/>
          </a:solidFill>
          <a:ln>
            <a:solidFill>
              <a:srgbClr val="C5D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2176272"/>
            <a:ext cx="1728216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7324D"/>
                </a:solidFill>
                <a:latin typeface="Aptos"/>
              </a:rPr>
              <a:t>Browser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542032"/>
            <a:ext cx="1728216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7324D"/>
                </a:solidFill>
                <a:latin typeface="Aptos"/>
              </a:rPr>
              <a:t>HTML / CSS / 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011680"/>
            <a:ext cx="1874519" cy="1005840"/>
          </a:xfrm>
          <a:prstGeom prst="roundRect">
            <a:avLst/>
          </a:prstGeom>
          <a:solidFill>
            <a:srgbClr val="E6F1EF"/>
          </a:solidFill>
          <a:ln>
            <a:solidFill>
              <a:srgbClr val="C5D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2176272"/>
            <a:ext cx="1728216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7324D"/>
                </a:solidFill>
                <a:latin typeface="Aptos"/>
              </a:rPr>
              <a:t>HTTP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6352" y="2542032"/>
            <a:ext cx="1728216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7324D"/>
                </a:solidFill>
                <a:latin typeface="Aptos"/>
              </a:rPr>
              <a:t>Static + JSON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011680"/>
            <a:ext cx="1874519" cy="1005840"/>
          </a:xfrm>
          <a:prstGeom prst="round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2" y="2176272"/>
            <a:ext cx="1728216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BookingService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2542032"/>
            <a:ext cx="1728216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Business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011680"/>
            <a:ext cx="1874519" cy="1005840"/>
          </a:xfrm>
          <a:prstGeom prst="roundRect">
            <a:avLst/>
          </a:prstGeom>
          <a:solidFill>
            <a:srgbClr val="E6F1EF"/>
          </a:solidFill>
          <a:ln>
            <a:solidFill>
              <a:srgbClr val="C5D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8352" y="2176272"/>
            <a:ext cx="1728216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7324D"/>
                </a:solidFill>
                <a:latin typeface="Aptos"/>
              </a:rPr>
              <a:t>Domain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8352" y="2542032"/>
            <a:ext cx="1728216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7324D"/>
                </a:solidFill>
                <a:latin typeface="Aptos"/>
              </a:rPr>
              <a:t>Room + Booking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2011680"/>
            <a:ext cx="2011680" cy="1005840"/>
          </a:xfrm>
          <a:prstGeom prst="roundRect">
            <a:avLst/>
          </a:prstGeom>
          <a:solidFill>
            <a:srgbClr val="E6F1EF"/>
          </a:solidFill>
          <a:ln>
            <a:solidFill>
              <a:srgbClr val="C5D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74352" y="2176272"/>
            <a:ext cx="1865376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7324D"/>
                </a:solidFill>
                <a:latin typeface="Aptos"/>
              </a:rPr>
              <a:t>CSV 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4352" y="2542032"/>
            <a:ext cx="1865376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7324D"/>
                </a:solidFill>
                <a:latin typeface="Aptos"/>
              </a:rPr>
              <a:t>Local persistence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31720" y="2514600"/>
            <a:ext cx="384048" cy="0"/>
          </a:xfrm>
          <a:prstGeom prst="line">
            <a:avLst/>
          </a:prstGeom>
          <a:ln w="31750">
            <a:solidFill>
              <a:srgbClr val="2B8A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7720" y="2514600"/>
            <a:ext cx="384048" cy="0"/>
          </a:xfrm>
          <a:prstGeom prst="line">
            <a:avLst/>
          </a:prstGeom>
          <a:ln w="31750">
            <a:solidFill>
              <a:srgbClr val="2B8A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03720" y="2514600"/>
            <a:ext cx="384048" cy="0"/>
          </a:xfrm>
          <a:prstGeom prst="line">
            <a:avLst/>
          </a:prstGeom>
          <a:ln w="31750">
            <a:solidFill>
              <a:srgbClr val="2B8A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189720" y="2514600"/>
            <a:ext cx="384048" cy="0"/>
          </a:xfrm>
          <a:prstGeom prst="line">
            <a:avLst/>
          </a:prstGeom>
          <a:ln w="31750">
            <a:solidFill>
              <a:srgbClr val="2B8A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3886200"/>
            <a:ext cx="10241280" cy="1005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243746"/>
                </a:solidFill>
                <a:latin typeface="Aptos"/>
              </a:rPr>
              <a:t>Request flow: browser submits a request -&gt; C++ server routes it -&gt; service validates and coordinates domain objects -&gt; repository loads or saves CSV data -&gt; JSON response returns to the browser.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257800"/>
            <a:ext cx="7955279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B8A87"/>
                </a:solidFill>
                <a:latin typeface="Aptos"/>
              </a:rPr>
              <a:t>Presentation | transport | application | domain | persistence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8A87"/>
          </a:solidFill>
          <a:ln>
            <a:solidFill>
              <a:srgbClr val="2B8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1106424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7324D"/>
                </a:solidFill>
                <a:latin typeface="Aptos Display"/>
              </a:rPr>
              <a:t>Object-oriented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91440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27581"/>
                </a:solidFill>
                <a:latin typeface="Aptos"/>
              </a:rPr>
              <a:t>HOTEL HAVEN  |  C++ OOP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27581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2240280" cy="658368"/>
          </a:xfrm>
          <a:prstGeom prst="roundRect">
            <a:avLst/>
          </a:prstGeom>
          <a:solidFill>
            <a:srgbClr val="2B8A87"/>
          </a:solidFill>
          <a:ln>
            <a:solidFill>
              <a:srgbClr val="2B8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380744"/>
            <a:ext cx="1993392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Encapsulation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234440"/>
            <a:ext cx="7955279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9E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353312"/>
            <a:ext cx="7498079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43746"/>
                </a:solidFill>
                <a:latin typeface="Aptos"/>
              </a:rPr>
              <a:t>Private state in Room and Booking; intentional operations/accessors.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67128"/>
            <a:ext cx="2240280" cy="658368"/>
          </a:xfrm>
          <a:prstGeom prst="round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313432"/>
            <a:ext cx="1993392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Abstraction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2167128"/>
            <a:ext cx="7955279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9E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286000"/>
            <a:ext cx="7498079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43746"/>
                </a:solidFill>
                <a:latin typeface="Aptos"/>
              </a:rPr>
              <a:t>Room category contract and BookingRepository interface.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99816"/>
            <a:ext cx="2240280" cy="658368"/>
          </a:xfrm>
          <a:prstGeom prst="roundRect">
            <a:avLst/>
          </a:prstGeom>
          <a:solidFill>
            <a:srgbClr val="2B8A87"/>
          </a:solidFill>
          <a:ln>
            <a:solidFill>
              <a:srgbClr val="2B8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246120"/>
            <a:ext cx="1993392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Inheritance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3099816"/>
            <a:ext cx="7955279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9E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3218688"/>
            <a:ext cx="7498079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43746"/>
                </a:solidFill>
                <a:latin typeface="Aptos"/>
              </a:rPr>
              <a:t>StandardRoom, DeluxeRoom, and SuiteRoom specialize Room.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032504"/>
            <a:ext cx="2240280" cy="658368"/>
          </a:xfrm>
          <a:prstGeom prst="round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178808"/>
            <a:ext cx="1993392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Polymorphism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4032504"/>
            <a:ext cx="7955279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9E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4151376"/>
            <a:ext cx="7498079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43746"/>
                </a:solidFill>
                <a:latin typeface="Aptos"/>
              </a:rPr>
              <a:t>Room catalog stores base-class pointers; virtual category dispatch.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65192"/>
            <a:ext cx="2240280" cy="658368"/>
          </a:xfrm>
          <a:prstGeom prst="roundRect">
            <a:avLst/>
          </a:prstGeom>
          <a:solidFill>
            <a:srgbClr val="2B8A87"/>
          </a:solidFill>
          <a:ln>
            <a:solidFill>
              <a:srgbClr val="2B8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111496"/>
            <a:ext cx="1993392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Composition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4965192"/>
            <a:ext cx="7955279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9E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5084064"/>
            <a:ext cx="7498079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43746"/>
                </a:solidFill>
                <a:latin typeface="Aptos"/>
              </a:rPr>
              <a:t>BookingService coordinates rooms, bookings, and repository.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8A87"/>
          </a:solidFill>
          <a:ln>
            <a:solidFill>
              <a:srgbClr val="2B8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1106424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7324D"/>
                </a:solidFill>
                <a:latin typeface="Aptos Display"/>
              </a:rPr>
              <a:t>Booking workflow &amp;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91440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27581"/>
                </a:solidFill>
                <a:latin typeface="Aptos"/>
              </a:rPr>
              <a:t>HOTEL HAVEN  |  C++ OOP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27581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461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600200"/>
            <a:ext cx="566928" cy="566928"/>
          </a:xfrm>
          <a:prstGeom prst="roundRect">
            <a:avLst/>
          </a:prstGeom>
          <a:solidFill>
            <a:srgbClr val="2B8A87"/>
          </a:solidFill>
          <a:ln>
            <a:solidFill>
              <a:srgbClr val="2B8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0784"/>
            <a:ext cx="530352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1618488"/>
            <a:ext cx="2212848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7324D"/>
                </a:solidFill>
                <a:latin typeface="Aptos"/>
              </a:rPr>
              <a:t>Choose 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417320"/>
            <a:ext cx="32461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90872" y="1600200"/>
            <a:ext cx="566928" cy="566928"/>
          </a:xfrm>
          <a:prstGeom prst="roundRect">
            <a:avLst/>
          </a:prstGeom>
          <a:solidFill>
            <a:srgbClr val="2B8A87"/>
          </a:solidFill>
          <a:ln>
            <a:solidFill>
              <a:srgbClr val="2B8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700784"/>
            <a:ext cx="530352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6672" y="1618488"/>
            <a:ext cx="2212848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7324D"/>
                </a:solidFill>
                <a:latin typeface="Aptos"/>
              </a:rPr>
              <a:t>Check room availability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17320"/>
            <a:ext cx="32461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85632" y="1600200"/>
            <a:ext cx="566928" cy="566928"/>
          </a:xfrm>
          <a:prstGeom prst="roundRect">
            <a:avLst/>
          </a:prstGeom>
          <a:solidFill>
            <a:srgbClr val="2B8A87"/>
          </a:solidFill>
          <a:ln>
            <a:solidFill>
              <a:srgbClr val="2B8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700784"/>
            <a:ext cx="530352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2" y="1618488"/>
            <a:ext cx="2212848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7324D"/>
                </a:solidFill>
                <a:latin typeface="Aptos"/>
              </a:rPr>
              <a:t>Enter guest details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834640"/>
            <a:ext cx="32461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" y="3017520"/>
            <a:ext cx="566928" cy="566928"/>
          </a:xfrm>
          <a:prstGeom prst="roundRect">
            <a:avLst/>
          </a:prstGeom>
          <a:solidFill>
            <a:srgbClr val="2B8A87"/>
          </a:solidFill>
          <a:ln>
            <a:solidFill>
              <a:srgbClr val="2B8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118104"/>
            <a:ext cx="530352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3035808"/>
            <a:ext cx="2212848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7324D"/>
                </a:solidFill>
                <a:latin typeface="Aptos"/>
              </a:rPr>
              <a:t>Validate request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2834640"/>
            <a:ext cx="32461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90872" y="3017520"/>
            <a:ext cx="566928" cy="566928"/>
          </a:xfrm>
          <a:prstGeom prst="roundRect">
            <a:avLst/>
          </a:prstGeom>
          <a:solidFill>
            <a:srgbClr val="2B8A87"/>
          </a:solidFill>
          <a:ln>
            <a:solidFill>
              <a:srgbClr val="2B8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118104"/>
            <a:ext cx="530352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3035808"/>
            <a:ext cx="2212848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7324D"/>
                </a:solidFill>
                <a:latin typeface="Aptos"/>
              </a:rPr>
              <a:t>Calculate total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2834640"/>
            <a:ext cx="32461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85632" y="3017520"/>
            <a:ext cx="566928" cy="566928"/>
          </a:xfrm>
          <a:prstGeom prst="roundRect">
            <a:avLst/>
          </a:prstGeom>
          <a:solidFill>
            <a:srgbClr val="2B8A87"/>
          </a:solidFill>
          <a:ln>
            <a:solidFill>
              <a:srgbClr val="2B8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3118104"/>
            <a:ext cx="530352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1432" y="3035808"/>
            <a:ext cx="2212848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7324D"/>
                </a:solidFill>
                <a:latin typeface="Aptos"/>
              </a:rPr>
              <a:t>Save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572000"/>
            <a:ext cx="10515600" cy="12344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buChar char="•"/>
              <a:spcAft>
                <a:spcPts val="1200"/>
              </a:spcAft>
              <a:defRPr sz="1700">
                <a:solidFill>
                  <a:srgbClr val="243746"/>
                </a:solidFill>
                <a:latin typeface="Aptos"/>
              </a:defRPr>
            </a:pPr>
            <a:r>
              <a:t>Reject invalid date ranges, malformed email, unknown rooms, over-capacity parties, and overlapping active stays.</a:t>
            </a:r>
          </a:p>
          <a:p>
            <a:pPr>
              <a:buChar char="•"/>
              <a:spcAft>
                <a:spcPts val="1200"/>
              </a:spcAft>
              <a:defRPr sz="1700">
                <a:solidFill>
                  <a:srgbClr val="243746"/>
                </a:solidFill>
                <a:latin typeface="Aptos"/>
              </a:defRPr>
            </a:pPr>
            <a:r>
              <a:t>Checkout on a date allows the next guest to check in that same date; cancelled stays release the room.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8A87"/>
          </a:solidFill>
          <a:ln>
            <a:solidFill>
              <a:srgbClr val="2B8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1106424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7324D"/>
                </a:solidFill>
                <a:latin typeface="Aptos Display"/>
              </a:rPr>
              <a:t>Persistence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91440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27581"/>
                </a:solidFill>
                <a:latin typeface="Aptos"/>
              </a:rPr>
              <a:t>HOTEL HAVEN  |  C++ OOP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27581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66360" cy="4389120"/>
          </a:xfrm>
          <a:prstGeom prst="round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45920"/>
            <a:ext cx="448056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A9D9D2"/>
                </a:solidFill>
                <a:latin typeface="Aptos"/>
              </a:rPr>
              <a:t>CSV DATA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40280"/>
            <a:ext cx="4480560" cy="29260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buChar char="•"/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Repository interface separates storage from business logic.</a:t>
            </a:r>
          </a:p>
          <a:p>
            <a:pPr>
              <a:buChar char="•"/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CSV repository loads and saves booking records.</a:t>
            </a:r>
          </a:p>
          <a:p>
            <a:pPr>
              <a:buChar char="•"/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Runtime data stays local and is excluded from Git.</a:t>
            </a:r>
          </a:p>
          <a:p>
            <a:pPr>
              <a:buChar char="•"/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Do not use real guest data in this demo.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1663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6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45920"/>
            <a:ext cx="448056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8A87"/>
                </a:solidFill>
                <a:latin typeface="Aptos"/>
              </a:rPr>
              <a:t>TEST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40280"/>
            <a:ext cx="4526280" cy="3017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buChar char="•"/>
              <a:spcAft>
                <a:spcPts val="1200"/>
              </a:spcAft>
              <a:defRPr sz="1700">
                <a:solidFill>
                  <a:srgbClr val="243746"/>
                </a:solidFill>
                <a:latin typeface="Aptos"/>
              </a:defRPr>
            </a:pPr>
            <a:r>
              <a:t>Leap dates, invalid calendar dates, and night totals.</a:t>
            </a:r>
          </a:p>
          <a:p>
            <a:pPr>
              <a:buChar char="•"/>
              <a:spcAft>
                <a:spcPts val="1200"/>
              </a:spcAft>
              <a:defRPr sz="1700">
                <a:solidFill>
                  <a:srgbClr val="243746"/>
                </a:solidFill>
                <a:latin typeface="Aptos"/>
              </a:defRPr>
            </a:pPr>
            <a:r>
              <a:t>References, prices, email normalization, and persistence.</a:t>
            </a:r>
          </a:p>
          <a:p>
            <a:pPr>
              <a:buChar char="•"/>
              <a:spcAft>
                <a:spcPts val="1200"/>
              </a:spcAft>
              <a:defRPr sz="1700">
                <a:solidFill>
                  <a:srgbClr val="243746"/>
                </a:solidFill>
                <a:latin typeface="Aptos"/>
              </a:defRPr>
            </a:pPr>
            <a:r>
              <a:t>Date overlap and adjacent check-in/check-out.</a:t>
            </a:r>
          </a:p>
          <a:p>
            <a:pPr>
              <a:buChar char="•"/>
              <a:spcAft>
                <a:spcPts val="1200"/>
              </a:spcAft>
              <a:defRPr sz="1700">
                <a:solidFill>
                  <a:srgbClr val="243746"/>
                </a:solidFill>
                <a:latin typeface="Aptos"/>
              </a:defRPr>
            </a:pPr>
            <a:r>
              <a:t>Capacity checks, cancellation authorization, and CSV round trip.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8A87"/>
          </a:solidFill>
          <a:ln>
            <a:solidFill>
              <a:srgbClr val="2B8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1106424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7324D"/>
                </a:solidFill>
                <a:latin typeface="Aptos Display"/>
              </a:rPr>
              <a:t>The interface: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91440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27581"/>
                </a:solidFill>
                <a:latin typeface="Aptos"/>
              </a:rPr>
              <a:t>HOTEL HAVEN  |  C++ OOP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27581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051560"/>
            <a:ext cx="1088136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7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ADER_AND_SLIDESH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26658"/>
            <a:ext cx="10561320" cy="46698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26480"/>
            <a:ext cx="104241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27581"/>
                </a:solidFill>
                <a:latin typeface="Aptos"/>
              </a:rPr>
              <a:t>Room slideshow highlights Classic King, Deluxe Garden, and The Corner Suite.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8A87"/>
          </a:solidFill>
          <a:ln>
            <a:solidFill>
              <a:srgbClr val="2B8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1106424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7324D"/>
                </a:solidFill>
                <a:latin typeface="Aptos Display"/>
              </a:rPr>
              <a:t>The interface: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91440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27581"/>
                </a:solidFill>
                <a:latin typeface="Aptos"/>
              </a:rPr>
              <a:t>HOTEL HAVEN  |  C++ OOP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27581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051560"/>
            <a:ext cx="384048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7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SHOW_AND_SEARCH_ROO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518" y="1188720"/>
            <a:ext cx="2276482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965960"/>
            <a:ext cx="2926080" cy="2103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7324D"/>
                </a:solidFill>
                <a:latin typeface="Aptos"/>
              </a:rPr>
              <a:t>Responsive layouts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7324D"/>
                </a:solidFill>
                <a:latin typeface="Aptos"/>
              </a:rPr>
              <a:t>Designed for narrow screens as well as desktop.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965960"/>
            <a:ext cx="2926080" cy="23317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8A87"/>
                </a:solidFill>
                <a:latin typeface="Aptos"/>
              </a:rPr>
              <a:t>Accessibility basics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B8A87"/>
                </a:solidFill>
                <a:latin typeface="Aptos"/>
              </a:rPr>
              <a:t>Labels, alt text, focus visibility, skip link, and reduced-motion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8A87"/>
          </a:solidFill>
          <a:ln>
            <a:solidFill>
              <a:srgbClr val="2B8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1106424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7324D"/>
                </a:solidFill>
                <a:latin typeface="Aptos Display"/>
              </a:rPr>
              <a:t>Run locally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91440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27581"/>
                </a:solidFill>
                <a:latin typeface="Aptos"/>
              </a:rPr>
              <a:t>HOTEL HAVEN  |  C++ OOP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27581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6858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B8A87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234440"/>
            <a:ext cx="9784080" cy="6217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43746"/>
                </a:solidFill>
                <a:latin typeface="Aptos"/>
              </a:rPr>
              <a:t>Install Git and MinGW g++; ensure g++ is on PATH.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6858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B8A87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9784080" cy="6217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43746"/>
                </a:solidFill>
                <a:latin typeface="Aptos"/>
              </a:rPr>
              <a:t>Clone: git clone https://github.com/Swayam-nakhwa/hotel-haven-app.git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6858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B8A87"/>
                </a:solidFill>
                <a:latin typeface="Apto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71800"/>
            <a:ext cx="9784080" cy="6217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43746"/>
                </a:solidFill>
                <a:latin typeface="Aptos"/>
              </a:rPr>
              <a:t>Run .\run.bat in PowerShell or the VS Code terminal.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40479"/>
            <a:ext cx="6858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B8A87"/>
                </a:solidFill>
                <a:latin typeface="Aptos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840479"/>
            <a:ext cx="9784080" cy="6217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43746"/>
                </a:solidFill>
                <a:latin typeface="Aptos"/>
              </a:rPr>
              <a:t>Open http://127.0.0.1:8080; keep the terminal open.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09160"/>
            <a:ext cx="6858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B8A87"/>
                </a:solidFill>
                <a:latin typeface="Aptos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709160"/>
            <a:ext cx="9784080" cy="6217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43746"/>
                </a:solidFill>
                <a:latin typeface="Aptos"/>
              </a:rPr>
              <a:t>Run .\test.bat to execute C++ tests.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669280"/>
            <a:ext cx="10058400" cy="457200"/>
          </a:xfrm>
          <a:prstGeom prst="roundRect">
            <a:avLst/>
          </a:prstGeom>
          <a:solidFill>
            <a:srgbClr val="FFF0D1"/>
          </a:solidFill>
          <a:ln>
            <a:solidFill>
              <a:srgbClr val="F3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742432"/>
            <a:ext cx="973836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7324D"/>
                </a:solidFill>
                <a:latin typeface="Aptos"/>
              </a:rPr>
              <a:t>Windows-only local demo. Press Ctrl+C in the server terminal to stop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8A87"/>
          </a:solidFill>
          <a:ln>
            <a:solidFill>
              <a:srgbClr val="2B8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1106424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7324D"/>
                </a:solidFill>
                <a:latin typeface="Aptos Display"/>
              </a:rP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91440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27581"/>
                </a:solidFill>
                <a:latin typeface="Aptos"/>
              </a:rPr>
              <a:t>HOTEL HAVEN  |  C++ OOP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27581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6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4572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8A87"/>
                </a:solidFill>
                <a:latin typeface="Aptos"/>
              </a:rPr>
              <a:t>CURRENT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572000" cy="32461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buChar char="•"/>
              <a:spcAft>
                <a:spcPts val="1200"/>
              </a:spcAft>
              <a:defRPr sz="1800">
                <a:solidFill>
                  <a:srgbClr val="243746"/>
                </a:solidFill>
                <a:latin typeface="Aptos"/>
              </a:defRPr>
            </a:pPr>
            <a:r>
              <a:t>No secure account authentication or payment processing.</a:t>
            </a:r>
          </a:p>
          <a:p>
            <a:pPr>
              <a:buChar char="•"/>
              <a:spcAft>
                <a:spcPts val="1200"/>
              </a:spcAft>
              <a:defRPr sz="1800">
                <a:solidFill>
                  <a:srgbClr val="243746"/>
                </a:solidFill>
                <a:latin typeface="Aptos"/>
              </a:defRPr>
            </a:pPr>
            <a:r>
              <a:t>Local CSV storage; not designed for concurrent production usage.</a:t>
            </a:r>
          </a:p>
          <a:p>
            <a:pPr>
              <a:buChar char="•"/>
              <a:spcAft>
                <a:spcPts val="1200"/>
              </a:spcAft>
              <a:defRPr sz="1800">
                <a:solidFill>
                  <a:srgbClr val="243746"/>
                </a:solidFill>
                <a:latin typeface="Aptos"/>
              </a:defRPr>
            </a:pPr>
            <a:r>
              <a:t>Single-threaded HTTP demo and Windows-specific server.</a:t>
            </a:r>
          </a:p>
          <a:p>
            <a:pPr>
              <a:buChar char="•"/>
              <a:spcAft>
                <a:spcPts val="1200"/>
              </a:spcAft>
              <a:defRPr sz="1800">
                <a:solidFill>
                  <a:srgbClr val="243746"/>
                </a:solidFill>
                <a:latin typeface="Aptos"/>
              </a:defRPr>
            </a:pPr>
            <a:r>
              <a:t>No public deployment or production load/security testing.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212080" cy="4526280"/>
          </a:xfrm>
          <a:prstGeom prst="round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4572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A9D9D2"/>
                </a:solidFill>
                <a:latin typeface="Aptos"/>
              </a:rPr>
              <a:t>POSSIBLE EXTENSIONS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4572000" cy="32461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buChar char="•"/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Database and safe concurrent booking transactions.</a:t>
            </a:r>
          </a:p>
          <a:p>
            <a:pPr>
              <a:buChar char="•"/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Portable build and production-grade server.</a:t>
            </a:r>
          </a:p>
          <a:p>
            <a:pPr>
              <a:buChar char="•"/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Secure identity, administration, notifications, and payments.</a:t>
            </a:r>
          </a:p>
          <a:p>
            <a:pPr>
              <a:buChar char="•"/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Deployment with appropriate privacy and security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A441"/>
          </a:solidFill>
          <a:ln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23160"/>
            <a:ext cx="996696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9E8E5"/>
                </a:solidFill>
                <a:latin typeface="Aptos"/>
              </a:rPr>
              <a:t>Hotel Haven brings C++ OOP concepts into a complete booking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657600"/>
            <a:ext cx="813816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A9D9D2"/>
                </a:solidFill>
                <a:latin typeface="Aptos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D9E8E5"/>
                </a:solidFill>
                <a:latin typeface="Aptos"/>
              </a:rPr>
              <a:t>HOTEL HAVEN  |  C++ OOP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4572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D9E8E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Haven - Hotel Room Reservation System</dc:title>
  <dc:subject>C++ Object-Oriented Programming Mini Project</dc:subject>
  <dc:creator>Swayam Krupesh Nakhwa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